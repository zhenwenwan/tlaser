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各位同事、各位专家，今天介绍 TLaser——面向通信级半导体激光器的实时数字孪生与参数在线标定平台。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系统由物理内核 Lasers、机器学习驱动器 PLaser 与在线标定引擎 TLaser 三层构成。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核心能力两条：7 维设计空间的毫秒级正向预测，以及基于实测 L-I-V 曲线的反向参数标定。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以下从物理建模、数值实现、代理模型、标定算法与验证结果逐层展开。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系统由三个层次构成：底层是 Lasers 高保真光-电-热耦合仿真内核，提供物理基准。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中层是 PLaser，用物理信息神经网络、降阶模型与数据蒸馏，把高成本仿真和实验数据转化为可实时调用的数字模型。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顶层是 TLaser 标定引擎，用 L-BFGS-B 算法在线拟合实测 L-I-V 数据，反向识别内部等效参数。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三者构成闭环：设计、仿真、制造、测试、反向标定、再设计，每次测试都在更新数字孪生体。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物理内核 Lasers 采用经典的漂移-扩散载流子模型，与频率域波动光学和晶格热方程耦合。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结构上集成泊松方程、电子空穴连续性方程、带能动力学、光子密度与热守恒，形成自洽方程集。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输出面向 EDA：输出光功率、激射频率、波长、频率稳定度、热极限与电光效率六个工程指标。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训练目标包含数据项与五类物理/约束项，不确定的材料参数如复合率、增益系数预留标定通道。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几何是参数化生成的脊波导 InP 激光器，物理尺寸 300 × 250 × 106.33 微米，外延层可逐层检视。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三维问题沿两个正交方向切片：2D 横向截面用 Elmer 有限元求解四类耦合方程，1D 纵向腔用 51 点速率方程。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2.5D Quasi-3D 把 2D 输出（有源区面积、限制因子、注入电流）耦合进纵向求解，以较低成本捕捉空间烧孔。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数值上通过 Jacobian 标定与保守边界条件保证稳态自洽收敛，实测 15 次迭代内完成。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PLaser 是一个 7 维输入、105 维输出的物理信息神经网络代理模型。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训练数据来自 2.5D 求解器生成的 1500 组收敛扫描，采用 GELU 激活。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关键设计是物理约束：载流子连续性方程直接嵌入损失反向传播，保证阈值附近与强热效应区的物理一致性。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单步耗时从 Elmer 的 12–25 秒压缩到 5 毫秒以内，拟合相关度保持在 0.997 以上，支撑实时设计交互。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反向标定解决的核心问题：给定实测 L-I-V 曲线，内部物理参数当前的真实值是多少。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标定优化程序采用 L-BFGS-B 极小化算法，迭代更新五个关键物性参数。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内损耗与限制因子修正阈值和斜率，俄歇乘数标定大电流热骤降，串联与并联电阻拟合电路级特性。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参数同步后的数字孪生体可在毫秒级时间内评估老化极限、支持设计改进并进行可靠性预测。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代理模型在独立保留验证集上完成了严苛验证，预测值与参考求解器高度对齐。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光输出功率拟合相关度 0.998，电光转换效率 0.997，终端电流 0.999，平均激射功率残差小于 0.45 毫瓦。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训练过程中数据损失与物理方程损失均收敛了 6 个数量级。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在未见过的腔长、膜系和温度下模型仍保持出色外推能力，验证了物理约束的价值。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频率扫描工具围绕设计共振频率 193.4 太赫兹，耦合二维横模与三维单模洛伦兹腔共振因子。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谱线解析出干净的单一谐振峰，线宽 30.61 吉赫兹，峰值壁插效率 5.398%。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二维扫描显示最优反射率约 0.3，对应解理面；更长腔长在往返增益与内吸收损耗之间权衡。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热效应方面，晶格温度高于 300 开尔文会因载流子泄漏与俄歇复合加热显著退化效率。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TLaser 还引入了 VCSEL 扩展演示模式，与边发射 DFB/FP 模型物理架构分离，基于圆柱径向坐标建立简化物理求解器。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覆盖氧化孔径、径向电流拥挤、径向空间烧孔与自热热翻转四类 VCSEL 特有物理机理。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需要说明：当前 VCSEL 仿真采用简化物性常数率方程，未与真实晶圆级数据对齐验证前仅作流程演示。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工程化层面，代码开源，Streamlit 面板支持毫秒级实时参数扫描与剖面可视化。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当前状态：软件框架与核心算法已经建立，三套开源仓库完整可用。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下一阶段需要与产业链伙伴合作，引入真实的设计、工艺和测试数据，完成模型标定、工程验证与行业应用。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合作对象包括 DFB/EML 光芯片企业、光模块企业、封装测试企业及科研机构。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我们相信，中国光芯片自主必须同步建立自主的设计仿真与数字孪生能力，欢迎各位加入共建。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20320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TLASER · REAL-TIME DIGITAL TWIN &amp; PARAMETER CALIBRATION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7686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实时数字孪生与参数在线标定平台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28647" flipH="false" flipV="false">
            <a:off x="1041426" y="39560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08C2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43180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通信级半导体激光器 · 7D PINN 代理模型 · L-BFGS-B 在线参数标定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9530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9C8DA"/>
                </a:solidFill>
                <a:latin typeface="Noto Sans SC"/>
                <a:ea typeface="Noto Sans SC"/>
                <a:cs typeface="Noto Sans SC"/>
                <a:sym typeface="Noto Sans SC"/>
              </a:rPr>
              <a:t>光-电-热多物理场耦合物理内核 · 51 点纵向空间分辨剖面 · 毫秒级推理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01 · SYSTEM OVERVIEW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22400"/>
            <a:ext cx="1066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TLaser = Lasers 物理内核 + PLaser PINN 代理 + 在线标定闭环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393" b="393"/>
          <a:stretch>
            <a:fillRect/>
          </a:stretch>
        </p:blipFill>
        <p:spPr>
          <a:xfrm rot="0" flipH="false" flipV="false">
            <a:off x="762000" y="2489200"/>
            <a:ext cx="5080000" cy="2857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4864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Inter"/>
                <a:ea typeface="Inter"/>
                <a:cs typeface="Inter"/>
                <a:sym typeface="Inter"/>
              </a:rPr>
              <a:t>FIGURE 1 · 工程映射：光模块 → 光引擎 → 芯片 → 仿真 → 数字孪生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0" y="2489200"/>
            <a:ext cx="5080000" cy="812800"/>
          </a:xfrm>
          <a:prstGeom prst="roundRect">
            <a:avLst>
              <a:gd name="adj" fmla="val 15625"/>
            </a:avLst>
          </a:prstGeom>
          <a:solidFill>
            <a:srgbClr val="F08C28">
              <a:alpha val="16000"/>
            </a:srgbClr>
          </a:solidFill>
          <a:ln w="12700" cmpd="sng" cap="flat">
            <a:solidFill>
              <a:srgbClr val="F08C28">
                <a:alpha val="7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578600" y="2590800"/>
            <a:ext cx="46228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08C28"/>
                </a:solidFill>
                <a:latin typeface="Noto Sans SC"/>
                <a:ea typeface="Noto Sans SC"/>
                <a:cs typeface="Noto Sans SC"/>
                <a:sym typeface="Noto Sans SC"/>
              </a:rPr>
              <a:t>01 · Lasers 物理内核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　漂移-扩散 + 频率域波动光学 + 晶格热方程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3454400"/>
            <a:ext cx="5080000" cy="812800"/>
          </a:xfrm>
          <a:prstGeom prst="roundRect">
            <a:avLst>
              <a:gd name="adj" fmla="val 15625"/>
            </a:avLst>
          </a:prstGeom>
          <a:solidFill>
            <a:srgbClr val="3B82F6">
              <a:alpha val="14000"/>
            </a:srgbClr>
          </a:solidFill>
          <a:ln w="12700" cmpd="sng" cap="flat">
            <a:solidFill>
              <a:srgbClr val="3B82F6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578600" y="3556000"/>
            <a:ext cx="46228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7AB4FF"/>
                </a:solidFill>
                <a:latin typeface="Noto Sans SC"/>
                <a:ea typeface="Noto Sans SC"/>
                <a:cs typeface="Noto Sans SC"/>
                <a:sym typeface="Noto Sans SC"/>
              </a:rPr>
              <a:t>02 · PLaser PINN 代理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　降阶模型 + 数据蒸馏 → 毫秒级实时数字模型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4419600"/>
            <a:ext cx="5080000" cy="812800"/>
          </a:xfrm>
          <a:prstGeom prst="roundRect">
            <a:avLst>
              <a:gd name="adj" fmla="val 15625"/>
            </a:avLst>
          </a:prstGeom>
          <a:solidFill>
            <a:srgbClr val="25D39E">
              <a:alpha val="13000"/>
            </a:srgbClr>
          </a:solidFill>
          <a:ln w="12700" cmpd="sng" cap="flat">
            <a:solidFill>
              <a:srgbClr val="25D39E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78600" y="4521200"/>
            <a:ext cx="46228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0EBBE"/>
                </a:solidFill>
                <a:latin typeface="Noto Sans SC"/>
                <a:ea typeface="Noto Sans SC"/>
                <a:cs typeface="Noto Sans SC"/>
                <a:sym typeface="Noto Sans SC"/>
              </a:rPr>
              <a:t>03 · TLaser 标定引擎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　L-BFGS-B 在线拟合，实测数据闭环修正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092" flipH="false" flipV="false">
            <a:off x="762004" y="6165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762000" y="6350000"/>
            <a:ext cx="1066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9C8DA"/>
                </a:solidFill>
                <a:latin typeface="Inter"/>
                <a:ea typeface="Inter"/>
                <a:cs typeface="Inter"/>
                <a:sym typeface="Inter"/>
              </a:rPr>
              <a:t>CLOSED LOOP: DESIGN → SIMULATION → FABRICATION → TEST → INVERSE CALIBRATION → REDESIGN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02 · PHYSICS CORE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22400"/>
            <a:ext cx="1066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自洽多物理场建模：漂移-扩散 + 频率域波动光学 + 晶格热方程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142" r="142" t="0" b="0"/>
          <a:stretch>
            <a:fillRect/>
          </a:stretch>
        </p:blipFill>
        <p:spPr>
          <a:xfrm rot="0" flipH="false" flipV="false">
            <a:off x="762000" y="2489200"/>
            <a:ext cx="5080000" cy="2971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664200"/>
            <a:ext cx="558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Inter"/>
                <a:ea typeface="Inter"/>
                <a:cs typeface="Inter"/>
                <a:sym typeface="Inter"/>
              </a:rPr>
              <a:t>FIGURE 2 · Inputs → Carrier transport → Optical/Thermal → EDA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0" y="2489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STATE VARIABLES · 状态变量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2921000"/>
            <a:ext cx="508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ψ</a:t>
            </a: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 静电势 ·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3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E</m:t>
                    </m:r>
                  </m:e>
                  <m:sub>
                    <m:r>
                      <a:rPr sz="13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0</m:t>
                    </m:r>
                  </m:sub>
                </m:sSub>
                <m:r>
                  <a:rPr sz="1300">
                    <a:solidFill>
                      <a:srgbClr val="D7E2F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=-∇ψ</m:t>
                </m:r>
              </m:oMath>
            </a14:m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 准静态电场 · </a:t>
            </a: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 / p</a:t>
            </a: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 电子/空穴密度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</a:t>
            </a: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 有效跃迁带能 · </a:t>
            </a: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</a:t>
            </a: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 晶格温度 · </a:t>
            </a: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</a:t>
            </a: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 光子密度 · </a:t>
            </a: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</a:t>
            </a: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 光场相量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40894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EDA OUTPUTS · 工程输出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4521200"/>
            <a:ext cx="508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P_opt 输出光功率 · f_out 激射频率 · λ_out 波长 · Δf 频率稳定度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T_max 热极限 · η_EO 电光转换效率 —— 稳定可预测的 EDA 指标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5410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PINN TRAINING LOSS · 训练目标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5791200"/>
            <a:ext cx="5080000" cy="711200"/>
          </a:xfrm>
          <a:prstGeom prst="roundRect">
            <a:avLst>
              <a:gd name="adj" fmla="val 14285"/>
            </a:avLst>
          </a:prstGeom>
          <a:solidFill>
            <a:srgbClr val="F08C28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02400" y="5892800"/>
            <a:ext cx="4775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2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m:t>L=</m:t>
                  </m:r>
                  <m:sSub>
                    <m:e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L</m:t>
                      </m:r>
                    </m:e>
                    <m:sub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d</m:t>
                      </m:r>
                    </m:sub>
                  </m:sSub>
                  <m:r>
                    <a:rPr sz="12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m:t>+</m:t>
                  </m:r>
                  <m:sSub>
                    <m:e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λ</m:t>
                      </m:r>
                    </m:e>
                    <m:sub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p</m:t>
                      </m:r>
                    </m:sub>
                  </m:sSub>
                  <m:sSub>
                    <m:e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L</m:t>
                      </m:r>
                    </m:e>
                    <m:sub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p</m:t>
                      </m:r>
                    </m:sub>
                  </m:sSub>
                  <m:r>
                    <a:rPr sz="12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m:t>+</m:t>
                  </m:r>
                  <m:sSub>
                    <m:e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λ</m:t>
                      </m:r>
                    </m:e>
                    <m:sub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b</m:t>
                      </m:r>
                    </m:sub>
                  </m:sSub>
                  <m:sSub>
                    <m:e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L</m:t>
                      </m:r>
                    </m:e>
                    <m:sub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b</m:t>
                      </m:r>
                    </m:sub>
                  </m:sSub>
                </m:oMath>
              </m:oMathPara>
            </a14:m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02400" y="6223000"/>
            <a:ext cx="4775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2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m:t>+</m:t>
                  </m:r>
                  <m:sSub>
                    <m:e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λ</m:t>
                      </m:r>
                    </m:e>
                    <m:sub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e</m:t>
                      </m:r>
                    </m:sub>
                  </m:sSub>
                  <m:sSub>
                    <m:e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L</m:t>
                      </m:r>
                    </m:e>
                    <m:sub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e</m:t>
                      </m:r>
                    </m:sub>
                  </m:sSub>
                  <m:r>
                    <a:rPr sz="12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m:t>+</m:t>
                  </m:r>
                  <m:sSub>
                    <m:e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λ</m:t>
                      </m:r>
                    </m:e>
                    <m:sub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s</m:t>
                      </m:r>
                    </m:sub>
                  </m:sSub>
                  <m:sSub>
                    <m:e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L</m:t>
                      </m:r>
                    </m:e>
                    <m:sub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s</m:t>
                      </m:r>
                    </m:sub>
                  </m:sSub>
                </m:oMath>
              </m:oMathPara>
            </a14:m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4092" flipH="false" flipV="false">
            <a:off x="762004" y="654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762000" y="6629400"/>
            <a:ext cx="1066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来源：Lasers —— Self-Consistent Multiphysics Dynamics for PINN-Driven Telecom Laser EDA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03 · NUMERICAL IMPLEMENTATION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22400"/>
            <a:ext cx="1066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参数化几何与 2D / 1D / 2.5D 分层求解器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62000" y="2489200"/>
            <a:ext cx="5080000" cy="2857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486400"/>
            <a:ext cx="558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Inter"/>
                <a:ea typeface="Inter"/>
                <a:cs typeface="Inter"/>
                <a:sym typeface="Inter"/>
              </a:rPr>
              <a:t>FIGURE 3 · Parametric ridge-waveguide InP laser geometry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8674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MQW 有源区、SCH 波导层、p-InP 脊、SiN 介质、Au 接触与 facet 镀膜全参数化。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2489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08C28"/>
                </a:solidFill>
                <a:latin typeface="Noto Sans SC"/>
                <a:ea typeface="Noto Sans SC"/>
                <a:cs typeface="Noto Sans SC"/>
                <a:sym typeface="Noto Sans SC"/>
              </a:rPr>
              <a:t>01 · 2D 横向截面（Elmer FEM）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2895600"/>
            <a:ext cx="508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泊松 + 漂移-扩散 + 矢量亥姆霍兹 + 晶格热传导耦合求解；网格区间 [−6, 6] × [0, 4.23] µm，脊宽/有源层厚度完全参数化。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37338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08C28"/>
                </a:solidFill>
                <a:latin typeface="Noto Sans SC"/>
                <a:ea typeface="Noto Sans SC"/>
                <a:cs typeface="Noto Sans SC"/>
                <a:sym typeface="Noto Sans SC"/>
              </a:rPr>
              <a:t>02 · 1D 纵向腔（51 点）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4140200"/>
            <a:ext cx="508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z = 0（高反 facet）到 z = L（输出 facet）51 点网格，求解前/后向光波耦合速率方程，捕捉纵向空间烧孔（SHB）。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49784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08C28"/>
                </a:solidFill>
                <a:latin typeface="Noto Sans SC"/>
                <a:ea typeface="Noto Sans SC"/>
                <a:cs typeface="Noto Sans SC"/>
                <a:sym typeface="Noto Sans SC"/>
              </a:rPr>
              <a:t>03 · 2.5D Quasi-3D 耦合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5384800"/>
            <a:ext cx="508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耦合 2D 输出：有源区面积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3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A</m:t>
                    </m:r>
                  </m:e>
                  <m:sub>
                    <m:r>
                      <m:rPr>
                        <m:nor/>
                      </m:rPr>
                      <a:rPr sz="13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act</m:t>
                    </m:r>
                  </m:sub>
                </m:sSub>
                <m:r>
                  <a:rPr sz="1300">
                    <a:solidFill>
                      <a:srgbClr val="D7E2F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=9.6×</m:t>
                </m:r>
                <m:sSup>
                  <m:e>
                    <m:r>
                      <a:rPr sz="13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10</m:t>
                    </m:r>
                  </m:e>
                  <m:sup>
                    <m:r>
                      <a:rPr sz="13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-9</m:t>
                    </m:r>
                  </m:sup>
                </m:sSup>
                <m:r>
                  <a:rPr sz="1300">
                    <a:solidFill>
                      <a:srgbClr val="D7E2F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m:t> </m:t>
                </m:r>
                <m:sSup>
                  <m:e>
                    <m:r>
                      <m:rPr>
                        <m:nor/>
                      </m:rPr>
                      <a:rPr sz="13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cm</m:t>
                    </m:r>
                  </m:e>
                  <m:sup>
                    <m:r>
                      <a:rPr sz="13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p>
                </m:sSup>
              </m:oMath>
            </a14:m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、限制因子 Γ = 0.05、注入电流 I_active ≈ 4.265 A/cm。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092" flipH="false" flipV="false">
            <a:off x="762004" y="654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62000" y="6629400"/>
            <a:ext cx="1066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数值稳定性：载流子方程 Jacobian 标定 1.0e-26 · trust-region dogleg（ierr=0）· Zero Normal Flux 对称边界 · 15 次迭代自洽收敛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04 · PINN SURROGATE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22400"/>
            <a:ext cx="1066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PLaser 代理模型：7D 设计空间 → 105 维物理指标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393" b="393"/>
          <a:stretch>
            <a:fillRect/>
          </a:stretch>
        </p:blipFill>
        <p:spPr>
          <a:xfrm rot="0" flipH="false" flipV="false">
            <a:off x="762000" y="2489200"/>
            <a:ext cx="5080000" cy="2857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5118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Inter"/>
                <a:ea typeface="Inter"/>
                <a:cs typeface="Inter"/>
                <a:sym typeface="Inter"/>
              </a:rPr>
              <a:t>FIGURE 4 · 7 维设计空间参数化表示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0" y="24384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INPUT · 7-D DESIGN VECTOR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28194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2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m:t>X=</m:t>
                  </m:r>
                  <m:d>
                    <m:dPr>
                      <m:begChr m:val="["/>
                      <m:sepChr m:val=","/>
                      <m:endChr m:val="]"/>
                    </m:dPr>
                    <m:e>
                      <m:sSub>
                        <m:e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R</m:t>
                          </m:r>
                        </m:e>
                        <m:sub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1</m:t>
                          </m:r>
                        </m:sub>
                      </m:sSub>
                    </m:e>
                    <m:e>
                      <m:sSub>
                        <m:e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R</m:t>
                          </m:r>
                        </m:e>
                        <m:sub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2</m:t>
                          </m:r>
                        </m:sub>
                      </m:sSub>
                    </m:e>
                    <m:e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L</m:t>
                      </m:r>
                    </m:e>
                    <m:e>
                      <m:sSub>
                        <m:e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T</m:t>
                          </m:r>
                        </m:e>
                        <m:sub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0</m:t>
                          </m:r>
                        </m:sub>
                      </m:sSub>
                    </m:e>
                    <m:e>
                      <m:sSub>
                        <m:e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I</m:t>
                          </m:r>
                        </m:e>
                        <m:sub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act</m:t>
                          </m:r>
                        </m:sub>
                      </m:sSub>
                    </m:e>
                    <m:e>
                      <m:sSub>
                        <m:e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w</m:t>
                          </m:r>
                        </m:e>
                        <m:sub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act</m:t>
                          </m:r>
                        </m:sub>
                      </m:sSub>
                    </m:e>
                    <m:e>
                      <m:sSub>
                        <m:e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d</m:t>
                          </m:r>
                        </m:e>
                        <m:sub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act</m:t>
                          </m:r>
                        </m:sub>
                      </m:sSub>
                    </m:e>
                  </m:d>
                </m:oMath>
              </m:oMathPara>
            </a14:m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3403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OUTPUT · 105-D METRICS &amp; PROFILES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3784600"/>
            <a:ext cx="508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false" i="false" strike="noStrike" u="none" sz="12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P_opt 光功率 · WPE 电光效率 · I_total 总电流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12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+ 51 点纵向载流子 N(z) 与光功率 P(z) 剖面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4521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PHYSICS CONSTRAINT · 载流子稳态方程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4902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G</m:t>
                      </m:r>
                    </m:e>
                    <m:sub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inj</m:t>
                      </m:r>
                    </m:sub>
                  </m:sSub>
                  <m:r>
                    <a:rPr sz="12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m:t>-</m:t>
                  </m:r>
                  <m:sSub>
                    <m:e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R</m:t>
                      </m:r>
                    </m:e>
                    <m:sub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rec</m:t>
                      </m:r>
                    </m:sub>
                  </m:sSub>
                  <m:r>
                    <a:rPr sz="12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m:t>-</m:t>
                  </m:r>
                  <m:sSub>
                    <m:e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R</m:t>
                      </m:r>
                    </m:e>
                    <m:sub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stim</m:t>
                      </m:r>
                    </m:sub>
                  </m:sSub>
                  <m:r>
                    <a:rPr sz="12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m:t>=0</m:t>
                  </m:r>
                </m:oMath>
              </m:oMathPara>
            </a14:m>
            <a:endParaRPr lang="en-US" sz="1100"/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6350000" y="5384800"/>
          <a:ext cx="5080000" cy="1066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1587500"/>
                <a:gridCol w="1587500"/>
              </a:tblGrid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求解器模式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8C28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单步耗时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8C28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拟合相关度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8C28">
                        <a:alpha val="20000"/>
                      </a:srgbClr>
                    </a:solidFill>
                  </a:tcPr>
                </a:tc>
              </a:tr>
              <a:tr h="241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D7E2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Elmer 2D FEM</a:t>
                      </a:r>
                      <a:endParaRPr lang="en-US" sz="1100"/>
                    </a:p>
                  </a:txBody>
                  <a:tcPr anchor="ctr" anchorCtr="false" marL="101600" marR="101600" marT="44450" marB="444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D7E2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 – 25 s</a:t>
                      </a:r>
                      <a:endParaRPr lang="en-US" sz="1100"/>
                    </a:p>
                  </a:txBody>
                  <a:tcPr anchor="ctr" anchorCtr="false" marL="101600" marR="101600" marT="44450" marB="444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D7E2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1.000</a:t>
                      </a:r>
                      <a:endParaRPr lang="en-US" sz="1100"/>
                    </a:p>
                  </a:txBody>
                  <a:tcPr anchor="ctr" anchorCtr="false" marL="101600" marR="101600" marT="44450" marB="444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1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D7E2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Quasi-3D 打靶法</a:t>
                      </a:r>
                      <a:endParaRPr lang="en-US" sz="1100"/>
                    </a:p>
                  </a:txBody>
                  <a:tcPr anchor="ctr" anchorCtr="false" marL="101600" marR="101600" marT="44450" marB="444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D7E2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1.2 – 2.8 s</a:t>
                      </a:r>
                      <a:endParaRPr lang="en-US" sz="1100"/>
                    </a:p>
                  </a:txBody>
                  <a:tcPr anchor="ctr" anchorCtr="false" marL="101600" marR="101600" marT="44450" marB="444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D7E2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1.000</a:t>
                      </a:r>
                      <a:endParaRPr lang="en-US" sz="1100"/>
                    </a:p>
                  </a:txBody>
                  <a:tcPr anchor="ctr" anchorCtr="false" marL="101600" marR="101600" marT="44450" marB="444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08C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TLaser PINN</a:t>
                      </a:r>
                      <a:endParaRPr lang="en-US" sz="1100"/>
                    </a:p>
                  </a:txBody>
                  <a:tcPr anchor="ctr" anchorCtr="false" marL="101600" marR="1016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08C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&lt; 5 ms</a:t>
                      </a:r>
                      <a:endParaRPr lang="en-US" sz="1100"/>
                    </a:p>
                  </a:txBody>
                  <a:tcPr anchor="ctr" anchorCtr="false" marL="101600" marR="1016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08C2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&gt; 0.997</a:t>
                      </a:r>
                      <a:endParaRPr lang="en-US" sz="1100"/>
                    </a:p>
                  </a:txBody>
                  <a:tcPr anchor="ctr" anchorCtr="false" marL="101600" marR="1016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13" id="13"/>
          <p:cNvCxnSpPr/>
          <p:nvPr/>
        </p:nvCxnSpPr>
        <p:spPr>
          <a:xfrm rot="-4092" flipH="false" flipV="false">
            <a:off x="762004" y="654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62000" y="6629400"/>
            <a:ext cx="1066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训练：1500 组 2.5D 收敛扫描数据集 · GELU 激活 · 载流子连续性方程嵌入损失反向传播；注入率 G_inj = I_active / (q0·L·A_act)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05 · INVERSE CALIBRATION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22400"/>
            <a:ext cx="1066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在线反向标定：实测 L-I-V 反推内部物性参数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55" r="55" t="0" b="0"/>
          <a:stretch>
            <a:fillRect/>
          </a:stretch>
        </p:blipFill>
        <p:spPr>
          <a:xfrm rot="0" flipH="false" flipV="false">
            <a:off x="762000" y="2489200"/>
            <a:ext cx="5080000" cy="37973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6350000"/>
            <a:ext cx="558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A8BE"/>
                </a:solidFill>
                <a:latin typeface="Inter"/>
                <a:ea typeface="Inter"/>
                <a:cs typeface="Inter"/>
                <a:sym typeface="Inter"/>
              </a:rPr>
              <a:t>FIGURE 5 · LIV → parameter solver → physical simulator → optimized fit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0" y="2489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INPUT · 实测遥测数据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28702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光模块级 L-I-V 曲线（输出光强 · 端电压 · 注入电流），经严格 JSON Schema 校验后导入标定环路。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35814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OPTIMIZATION · L-BFGS-B 五参数拟合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39624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20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m:t>θ=</m:t>
                  </m:r>
                  <m:d>
                    <m:dPr>
                      <m:begChr m:val="["/>
                      <m:sepChr m:val=","/>
                      <m:endChr m:val="]"/>
                    </m:dPr>
                    <m:e>
                      <m:sSub>
                        <m:e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α</m:t>
                          </m:r>
                        </m:e>
                        <m:sub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i</m:t>
                          </m:r>
                        </m:sub>
                      </m:sSub>
                    </m:e>
                    <m:e>
                      <m:r>
                        <a:rPr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m:t>Γ</m:t>
                      </m:r>
                    </m:e>
                    <m:e>
                      <m:sSub>
                        <m:e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C</m:t>
                          </m:r>
                        </m:e>
                        <m:sub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mul</m:t>
                          </m:r>
                        </m:sub>
                      </m:sSub>
                    </m:e>
                    <m:e>
                      <m:sSub>
                        <m:e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R</m:t>
                          </m:r>
                        </m:e>
                        <m:sub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ser</m:t>
                          </m:r>
                        </m:sub>
                      </m:sSub>
                    </m:e>
                    <m:e>
                      <m:sSub>
                        <m:e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R</m:t>
                          </m:r>
                        </m:e>
                        <m:sub>
                          <m:r>
                            <a:rPr sz="1200">
                              <a:solidFill>
                                <a:srgbClr val="FFFFFF"/>
                              </a:solidFill>
                              <a:latin typeface="Inter"/>
                              <a:ea typeface="Inter"/>
                              <a:cs typeface="Inter"/>
                              <a:sym typeface="Inter"/>
                            </a:rPr>
                            <m:t>shunt</m:t>
                          </m:r>
                        </m:sub>
                      </m:sSub>
                    </m:e>
                  </m:d>
                </m:oMath>
              </m:oMathPara>
            </a14:m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4521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PARAMETER ROLES · 参数物理角色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49022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α_i 内损耗 / Γ 限制因子 —— 修正阈值与电光效率斜率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C_multiplier 俄歇复合乘数 —— 标定大电流非辐射热骤降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R_series / R_shunt —— 电路级总电压与寄生电流高精度拟合</a:t>
            </a:r>
          </a:p>
        </p:txBody>
      </p:sp>
      <p:cxnSp>
        <p:nvCxnSpPr>
          <p:cNvPr name="Connector 12" id="12"/>
          <p:cNvCxnSpPr/>
          <p:nvPr/>
        </p:nvCxnSpPr>
        <p:spPr>
          <a:xfrm rot="-8594" flipH="false" flipV="false">
            <a:off x="6350008" y="5835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8C28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350000" y="5969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F08C28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工程决策闭环：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同步后的孪生体毫秒级评估老化极限 · 支持设计改进 · 可靠性预测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06 · VALIDATION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22400"/>
            <a:ext cx="1066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独立保留集验证：拟合相关度 ≥ 0.997，残差 &lt; 0.45 mW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540000"/>
            <a:ext cx="2590800" cy="1422400"/>
          </a:xfrm>
          <a:prstGeom prst="roundRect">
            <a:avLst>
              <a:gd name="adj" fmla="val 8928"/>
            </a:avLst>
          </a:prstGeom>
          <a:solidFill>
            <a:srgbClr val="F08C28">
              <a:alpha val="10000"/>
            </a:srgbClr>
          </a:solidFill>
          <a:ln w="12700" cmpd="sng" cap="flat">
            <a:solidFill>
              <a:srgbClr val="F08C28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65200" y="2743200"/>
            <a:ext cx="2184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0.998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3454400"/>
            <a:ext cx="223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光输出功率 </a:t>
            </a:r>
            <a14:m xmlns:a14="http://schemas.microsoft.com/office/drawing/2010/main">
              <m:oMath xmlns:m="http://schemas.openxmlformats.org/officeDocument/2006/math" xmlns:mml="http://www.w3.org/1998/Math/MathML">
                <m:sSup>
                  <m:e>
                    <m:r>
                      <a:rPr sz="12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R</m:t>
                    </m:r>
                  </m:e>
                  <m:sup>
                    <m:r>
                      <a:rPr sz="12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p>
                </m:sSup>
              </m:oMath>
            </a14:m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06800" y="2540000"/>
            <a:ext cx="2590800" cy="1422400"/>
          </a:xfrm>
          <a:prstGeom prst="roundRect">
            <a:avLst>
              <a:gd name="adj" fmla="val 8928"/>
            </a:avLst>
          </a:prstGeom>
          <a:solidFill>
            <a:srgbClr val="F08C28">
              <a:alpha val="10000"/>
            </a:srgbClr>
          </a:solidFill>
          <a:ln w="12700" cmpd="sng" cap="flat">
            <a:solidFill>
              <a:srgbClr val="F08C28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810000" y="2743200"/>
            <a:ext cx="2184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0.997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0" y="3454400"/>
            <a:ext cx="223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电光转换效率 WPE </a:t>
            </a:r>
            <a14:m xmlns:a14="http://schemas.microsoft.com/office/drawing/2010/main">
              <m:oMath xmlns:m="http://schemas.openxmlformats.org/officeDocument/2006/math" xmlns:mml="http://www.w3.org/1998/Math/MathML">
                <m:sSup>
                  <m:e>
                    <m:r>
                      <a:rPr sz="12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R</m:t>
                    </m:r>
                  </m:e>
                  <m:sup>
                    <m:r>
                      <a:rPr sz="12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p>
                </m:sSup>
              </m:oMath>
            </a14:m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216400"/>
            <a:ext cx="2590800" cy="1422400"/>
          </a:xfrm>
          <a:prstGeom prst="roundRect">
            <a:avLst>
              <a:gd name="adj" fmla="val 8928"/>
            </a:avLst>
          </a:prstGeom>
          <a:solidFill>
            <a:srgbClr val="F08C28">
              <a:alpha val="10000"/>
            </a:srgbClr>
          </a:solidFill>
          <a:ln w="12700" cmpd="sng" cap="flat">
            <a:solidFill>
              <a:srgbClr val="F08C28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65200" y="4419600"/>
            <a:ext cx="2184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0.999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5130800"/>
            <a:ext cx="223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终端电流 </a:t>
            </a:r>
            <a14:m xmlns:a14="http://schemas.microsoft.com/office/drawing/2010/main">
              <m:oMath xmlns:m="http://schemas.openxmlformats.org/officeDocument/2006/math" xmlns:mml="http://www.w3.org/1998/Math/MathML">
                <m:sSup>
                  <m:e>
                    <m:r>
                      <a:rPr sz="12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R</m:t>
                    </m:r>
                  </m:e>
                  <m:sup>
                    <m:r>
                      <a:rPr sz="12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2</m:t>
                    </m:r>
                  </m:sup>
                </m:sSup>
              </m:oMath>
            </a14:m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06800" y="4216400"/>
            <a:ext cx="2590800" cy="1422400"/>
          </a:xfrm>
          <a:prstGeom prst="roundRect">
            <a:avLst>
              <a:gd name="adj" fmla="val 8928"/>
            </a:avLst>
          </a:prstGeom>
          <a:solidFill>
            <a:srgbClr val="F08C28">
              <a:alpha val="10000"/>
            </a:srgbClr>
          </a:solidFill>
          <a:ln w="12700" cmpd="sng" cap="flat">
            <a:solidFill>
              <a:srgbClr val="F08C28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810000" y="4419600"/>
            <a:ext cx="2184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&lt; 0.45 mW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10000" y="5130800"/>
            <a:ext cx="223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平均激射功率残差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2"/>
          <a:srcRect l="0" r="0" t="8222" b="8222"/>
          <a:stretch>
            <a:fillRect/>
          </a:stretch>
        </p:blipFill>
        <p:spPr>
          <a:xfrm rot="0" flipH="false" flipV="false">
            <a:off x="6858000" y="2489200"/>
            <a:ext cx="4572000" cy="2387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6858000" y="49784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Inter"/>
                <a:ea typeface="Inter"/>
                <a:cs typeface="Inter"/>
                <a:sym typeface="Inter"/>
              </a:rPr>
              <a:t>FIGURE 6 · PINN training loss — 6 orders convergence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092" flipH="false" flipV="false">
            <a:off x="762004" y="654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762000" y="6629400"/>
            <a:ext cx="1066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数据损失与物理方程损失均收敛 6 个数量级；物理约束消除网格点非物理毛刺，提供完全连续平滑剖面；未见过腔长/膜系/温度下外推泛化良好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07 · PHYSICS RESULTS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22400"/>
            <a:ext cx="1066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电光效率谱与器件参数设计扫描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62000" y="2540000"/>
            <a:ext cx="5334000" cy="266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3340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Inter"/>
                <a:ea typeface="Inter"/>
                <a:cs typeface="Inter"/>
                <a:sym typeface="Inter"/>
              </a:rPr>
              <a:t>FIGURE 7 · Efficiency spectrum — single-mode resonance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04000" y="2540000"/>
            <a:ext cx="2286000" cy="1422400"/>
          </a:xfrm>
          <a:prstGeom prst="roundRect">
            <a:avLst>
              <a:gd name="adj" fmla="val 8928"/>
            </a:avLst>
          </a:prstGeom>
          <a:solidFill>
            <a:srgbClr val="F08C28">
              <a:alpha val="10000"/>
            </a:srgbClr>
          </a:solidFill>
          <a:ln w="12700" cmpd="sng" cap="flat">
            <a:solidFill>
              <a:srgbClr val="F08C28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807200" y="2717800"/>
            <a:ext cx="187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193.4 THz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807200" y="3378200"/>
            <a:ext cx="1930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设计共振频率 </a:t>
            </a:r>
            <a14:m xmlns:a14="http://schemas.microsoft.com/office/drawing/2010/main">
              <m:oMath xmlns:m="http://schemas.openxmlformats.org/officeDocument/2006/math" xmlns:mml="http://www.w3.org/1998/Math/MathML">
                <m:sSub>
                  <m:e>
                    <m:r>
                      <a:rPr sz="12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f</m:t>
                    </m:r>
                  </m:e>
                  <m:sub>
                    <m:r>
                      <a:rPr sz="1200">
                        <a:solidFill>
                          <a:srgbClr val="D7E2F0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rPr>
                      <m:t>0</m:t>
                    </m:r>
                  </m:sub>
                </m:sSub>
              </m:oMath>
            </a14:m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144000" y="2540000"/>
            <a:ext cx="2286000" cy="1422400"/>
          </a:xfrm>
          <a:prstGeom prst="roundRect">
            <a:avLst>
              <a:gd name="adj" fmla="val 8928"/>
            </a:avLst>
          </a:prstGeom>
          <a:solidFill>
            <a:srgbClr val="F08C28">
              <a:alpha val="10000"/>
            </a:srgbClr>
          </a:solidFill>
          <a:ln w="12700" cmpd="sng" cap="flat">
            <a:solidFill>
              <a:srgbClr val="F08C28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47200" y="2717800"/>
            <a:ext cx="187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30.61 GHz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347200" y="3378200"/>
            <a:ext cx="1930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腔共振线宽 Δf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4216400"/>
            <a:ext cx="2286000" cy="1422400"/>
          </a:xfrm>
          <a:prstGeom prst="roundRect">
            <a:avLst>
              <a:gd name="adj" fmla="val 8928"/>
            </a:avLst>
          </a:prstGeom>
          <a:solidFill>
            <a:srgbClr val="F08C28">
              <a:alpha val="10000"/>
            </a:srgbClr>
          </a:solidFill>
          <a:ln w="12700" cmpd="sng" cap="flat">
            <a:solidFill>
              <a:srgbClr val="F08C28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807200" y="4394200"/>
            <a:ext cx="187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5.398%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807200" y="5054600"/>
            <a:ext cx="1930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峰值壁插效率 WPE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144000" y="4216400"/>
            <a:ext cx="2286000" cy="1422400"/>
          </a:xfrm>
          <a:prstGeom prst="roundRect">
            <a:avLst>
              <a:gd name="adj" fmla="val 8928"/>
            </a:avLst>
          </a:prstGeom>
          <a:solidFill>
            <a:srgbClr val="F08C28">
              <a:alpha val="10000"/>
            </a:srgbClr>
          </a:solidFill>
          <a:ln w="12700" cmpd="sng" cap="flat">
            <a:solidFill>
              <a:srgbClr val="F08C28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347200" y="4394200"/>
            <a:ext cx="187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R ≈ 0.3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347200" y="5054600"/>
            <a:ext cx="1930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最优解理面反射率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092" flipH="false" flipV="false">
            <a:off x="762004" y="6191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762000" y="6299200"/>
            <a:ext cx="1066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更长腔长增加往返增益、但累积内部吸收损耗；晶格温度高于 300 K 时，载流子泄漏与俄歇复合加热显著退化效率（热翻转）。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08 · VCSEL EXTENSION &amp; DEPLOYMENT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22400"/>
            <a:ext cx="1066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VCSEL 扩展模式与工程化部署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138" r="138" t="0" b="0"/>
          <a:stretch>
            <a:fillRect/>
          </a:stretch>
        </p:blipFill>
        <p:spPr>
          <a:xfrm rot="0" flipH="false" flipV="false">
            <a:off x="762000" y="2540000"/>
            <a:ext cx="5080000" cy="241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0546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A8BE"/>
                </a:solidFill>
                <a:latin typeface="Inter"/>
                <a:ea typeface="Inter"/>
                <a:cs typeface="Inter"/>
                <a:sym typeface="Inter"/>
              </a:rPr>
              <a:t>FIGURE 8 · Coupled 2D lattice temperature field (self-heating)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461000"/>
            <a:ext cx="5080000" cy="838200"/>
          </a:xfrm>
          <a:prstGeom prst="roundRect">
            <a:avLst>
              <a:gd name="adj" fmla="val 15151"/>
            </a:avLst>
          </a:prstGeom>
          <a:solidFill>
            <a:srgbClr val="3B82F6">
              <a:alpha val="12000"/>
            </a:srgbClr>
          </a:solidFill>
          <a:ln w="12700" cmpd="sng" cap="flat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5588000"/>
            <a:ext cx="4724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true" i="false" strike="noStrike" u="none" sz="1300">
                <a:solidFill>
                  <a:srgbClr val="7AB4F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部署形态：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Streamlit 交互面板 · &lt; 5 ms 实时参数扫描与剖面可视化 · LIV 上传 JSON Schema 严格校验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2489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VCSEL EXTENSION MODE · 圆柱径向坐标求解器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2895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· 氧化孔径（Aperture Diameter）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32512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调节氧化层孔径，控制横向光模约束与注入电流密度分布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36830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· 径向电流拥挤 &amp; 空间烧孔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4038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氧化孔边缘电流集聚；强受激辐射在光场中心造成载流子局部凹陷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44704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· 自热效应与热翻转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48260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标定 DBR 损耗与结温上升引起的功率骤降（thermal rollover）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5334000"/>
            <a:ext cx="5080000" cy="838200"/>
          </a:xfrm>
          <a:prstGeom prst="roundRect">
            <a:avLst>
              <a:gd name="adj" fmla="val 15151"/>
            </a:avLst>
          </a:prstGeom>
          <a:solidFill>
            <a:srgbClr val="F08C28">
              <a:alpha val="10000"/>
            </a:srgbClr>
          </a:solidFill>
          <a:ln w="12700" cmpd="sng" cap="flat">
            <a:solidFill>
              <a:srgbClr val="F08C28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53200" y="5461000"/>
            <a:ext cx="4724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true" i="false" strike="noStrike" u="none" sz="1200">
                <a:solidFill>
                  <a:srgbClr val="F08C28"/>
                </a:solidFill>
                <a:latin typeface="Noto Sans SC"/>
                <a:ea typeface="Noto Sans SC"/>
                <a:cs typeface="Noto Sans SC"/>
                <a:sym typeface="Noto Sans SC"/>
              </a:rPr>
              <a:t>限制说明：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当前采用简化物性常数率方程（Reduced Physics Mode），在获得真实晶圆级 LIV-Wavelength 数据对齐验证前，仅作为数字孪生流程演示。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4092" flipH="false" flipV="false">
            <a:off x="762004" y="6546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762000" y="6629400"/>
            <a:ext cx="1066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6A8BE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来源：TLaser —— VCSEL Extension Mode · github.com/ZhenwenWan/TLaser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0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08C28"/>
                </a:solidFill>
                <a:latin typeface="Inter"/>
                <a:ea typeface="Inter"/>
                <a:cs typeface="Inter"/>
                <a:sym typeface="Inter"/>
              </a:rPr>
              <a:t>09 · ROADMAP &amp; COLLABORATION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22400"/>
            <a:ext cx="1066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软件框架与核心算法已建立，等待产业数据闭环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489200"/>
            <a:ext cx="3302000" cy="3200400"/>
          </a:xfrm>
          <a:prstGeom prst="roundRect">
            <a:avLst>
              <a:gd name="adj" fmla="val 4761"/>
            </a:avLst>
          </a:prstGeom>
          <a:solidFill>
            <a:srgbClr val="F08C28">
              <a:alpha val="8000"/>
            </a:srgbClr>
          </a:solidFill>
          <a:ln w="12700" cmpd="sng" cap="flat">
            <a:solidFill>
              <a:srgbClr val="F08C28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65200" y="2692400"/>
            <a:ext cx="2895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8C28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3200400"/>
            <a:ext cx="28956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12500"/>
              </a:lnSpc>
              <a:buClr>
                <a:srgbClr val="D7E2F0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Lasers 光-电-热耦合物理内核</a:t>
            </a:r>
            <a:endParaRPr lang="en-US" sz="1100"/>
          </a:p>
          <a:p>
            <a:pPr algn="l" indent="-165100" marL="165100">
              <a:lnSpc>
                <a:spcPct val="112500"/>
              </a:lnSpc>
              <a:buClr>
                <a:srgbClr val="D7E2F0"/>
              </a:buClr>
              <a:buChar char="•"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PLaser 7D→105D PINN 代理模型</a:t>
            </a:r>
          </a:p>
          <a:p>
            <a:pPr algn="l" indent="-165100" marL="165100">
              <a:lnSpc>
                <a:spcPct val="112500"/>
              </a:lnSpc>
              <a:buClr>
                <a:srgbClr val="D7E2F0"/>
              </a:buClr>
              <a:buChar char="•"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TLaser L-BFGS-B 在线标定环路</a:t>
            </a:r>
          </a:p>
          <a:p>
            <a:pPr algn="l" indent="-165100" marL="165100">
              <a:lnSpc>
                <a:spcPct val="112500"/>
              </a:lnSpc>
              <a:buClr>
                <a:srgbClr val="D7E2F0"/>
              </a:buClr>
              <a:buChar char="•"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Streamlit 实时交互面板</a:t>
            </a:r>
          </a:p>
          <a:p>
            <a:pPr algn="l" indent="-165100" marL="165100">
              <a:lnSpc>
                <a:spcPct val="112500"/>
              </a:lnSpc>
              <a:buClr>
                <a:srgbClr val="D7E2F0"/>
              </a:buClr>
              <a:buChar char="•"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1500 组收敛扫描训练数据集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18000" y="2489200"/>
            <a:ext cx="3302000" cy="3200400"/>
          </a:xfrm>
          <a:prstGeom prst="roundRect">
            <a:avLst>
              <a:gd name="adj" fmla="val 4761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3B82F6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21200" y="2692400"/>
            <a:ext cx="2895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7AB4FF"/>
                </a:solidFill>
                <a:latin typeface="Noto Sans SC"/>
                <a:ea typeface="Noto Sans SC"/>
                <a:cs typeface="Noto Sans SC"/>
                <a:sym typeface="Noto Sans SC"/>
              </a:rPr>
              <a:t>下一阶段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21200" y="3200400"/>
            <a:ext cx="28956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12500"/>
              </a:lnSpc>
              <a:buClr>
                <a:srgbClr val="D7E2F0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引入真实设计、工艺与测试数据</a:t>
            </a:r>
            <a:endParaRPr lang="en-US" sz="1100"/>
          </a:p>
          <a:p>
            <a:pPr algn="l" indent="-165100" marL="165100">
              <a:lnSpc>
                <a:spcPct val="112500"/>
              </a:lnSpc>
              <a:buClr>
                <a:srgbClr val="D7E2F0"/>
              </a:buClr>
              <a:buChar char="•"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完成模型标定与工程验证</a:t>
            </a:r>
          </a:p>
          <a:p>
            <a:pPr algn="l" indent="-165100" marL="165100">
              <a:lnSpc>
                <a:spcPct val="112500"/>
              </a:lnSpc>
              <a:buClr>
                <a:srgbClr val="D7E2F0"/>
              </a:buClr>
              <a:buChar char="•"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DFB/EML 与 VCSEL 量产级器件扩展</a:t>
            </a:r>
          </a:p>
          <a:p>
            <a:pPr algn="l" indent="-165100" marL="165100">
              <a:lnSpc>
                <a:spcPct val="112500"/>
              </a:lnSpc>
              <a:buClr>
                <a:srgbClr val="D7E2F0"/>
              </a:buClr>
              <a:buChar char="•"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行业应用与产线落地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874000" y="2489200"/>
            <a:ext cx="3302000" cy="3200400"/>
          </a:xfrm>
          <a:prstGeom prst="roundRect">
            <a:avLst>
              <a:gd name="adj" fmla="val 4761"/>
            </a:avLst>
          </a:prstGeom>
          <a:solidFill>
            <a:srgbClr val="25D39E">
              <a:alpha val="7000"/>
            </a:srgbClr>
          </a:solidFill>
          <a:ln w="12700" cmpd="sng" cap="flat">
            <a:solidFill>
              <a:srgbClr val="25D39E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077200" y="2692400"/>
            <a:ext cx="2895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50EBBE"/>
                </a:solidFill>
                <a:latin typeface="Noto Sans SC"/>
                <a:ea typeface="Noto Sans SC"/>
                <a:cs typeface="Noto Sans SC"/>
                <a:sym typeface="Noto Sans SC"/>
              </a:rPr>
              <a:t>合作对象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77200" y="3200400"/>
            <a:ext cx="28956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12500"/>
              </a:lnSpc>
              <a:buClr>
                <a:srgbClr val="D7E2F0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DFB / EML 光芯片企业</a:t>
            </a:r>
            <a:endParaRPr lang="en-US" sz="1100"/>
          </a:p>
          <a:p>
            <a:pPr algn="l" indent="-165100" marL="165100">
              <a:lnSpc>
                <a:spcPct val="112500"/>
              </a:lnSpc>
              <a:buClr>
                <a:srgbClr val="D7E2F0"/>
              </a:buClr>
              <a:buChar char="•"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光模块企业</a:t>
            </a:r>
          </a:p>
          <a:p>
            <a:pPr algn="l" indent="-165100" marL="165100">
              <a:lnSpc>
                <a:spcPct val="112500"/>
              </a:lnSpc>
              <a:buClr>
                <a:srgbClr val="D7E2F0"/>
              </a:buClr>
              <a:buChar char="•"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封装测试企业</a:t>
            </a:r>
          </a:p>
          <a:p>
            <a:pPr algn="l" indent="-165100" marL="165100">
              <a:lnSpc>
                <a:spcPct val="112500"/>
              </a:lnSpc>
              <a:buClr>
                <a:srgbClr val="D7E2F0"/>
              </a:buClr>
              <a:buChar char="•"/>
            </a:pPr>
            <a:r>
              <a:rPr lang="en-US" b="false" i="false" strike="noStrike" u="none" sz="1300">
                <a:solidFill>
                  <a:srgbClr val="D7E2F0"/>
                </a:solidFill>
                <a:latin typeface="Noto Sans SC"/>
                <a:ea typeface="Noto Sans SC"/>
                <a:cs typeface="Noto Sans SC"/>
                <a:sym typeface="Noto Sans SC"/>
              </a:rPr>
              <a:t>科研机构与高校课题组</a:t>
            </a:r>
          </a:p>
        </p:txBody>
      </p:sp>
      <p:cxnSp>
        <p:nvCxnSpPr>
          <p:cNvPr name="Connector 13" id="13"/>
          <p:cNvCxnSpPr/>
          <p:nvPr/>
        </p:nvCxnSpPr>
        <p:spPr>
          <a:xfrm rot="-4092" flipH="false" flipV="false">
            <a:off x="762004" y="596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62000" y="61214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中国光芯片自主，不能只有制造设备、工艺产线和材料供应链，还必须同步建立自主的设计仿真与数字孪生能力。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6553200"/>
            <a:ext cx="1066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8BE"/>
                </a:solidFill>
                <a:latin typeface="Inter"/>
                <a:ea typeface="Inter"/>
                <a:cs typeface="Inter"/>
                <a:sym typeface="Inter"/>
              </a:rPr>
              <a:t>github.com/ZhenwenWan/TLaser · PLaser · Lasers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