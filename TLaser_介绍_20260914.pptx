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大家好，今天向大家介绍 TLaser——面向通信级半导体激光器的实时数字孪生与参数在线标定平台。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它由 P·Laser AI 代理模型引擎与 T·Laser 数字孪生平台协同构成，目标是重塑光芯片研发范式。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核心是 7D 物理信息神经网络代理模型与在线参数标定闭环，实现毫秒级预测与校准。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先看行业背景：AI 数据中心建设推动高速光模块需求迅猛增长，2025 年全球光模块市场约 1600 亿元人民币。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速率正从 800G 走向 1.6T，但高速 DFB、EML 光芯片环节仍是中国供应链短板。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Coherent、Lumentum 等美日企业占据 25G 以上高端芯片主导地位，国产正在追赶。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核心痛点：光芯片是信息黑盒——内部微观物性常数或物理损伤无法在不破坏外壳的前提下直接观测。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理论模型与实测之间，存在器件内部损耗、工艺偏差、温度漂移与不可测量物理参数四类偏差。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仿真不能停留在「给定设计参数、计算理想性能」的单向流程，这正是 TLaser 要解决的。其基本思路是引入数字孪生与反向标定。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解决思路借鉴天气预报的演进路径：早期靠观测与经验，后来建立数值模式，现代则用资料同化把模式与实时观测结合。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高端光芯片同样不能只靠理想化仿真，也不能只靠工程经验。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TLaser 建立「设计→仿真→制造→测试→反向标定→再设计」的数字孪生闭环，用实测数据不断校准系统状态。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TLaser 的定位：为全球光学产业构建自进化数字大脑，跨越数字设计与物理制造的鸿沟。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三大能力缺一不可：Lasers 高精度物理内核负责算得准，PLaser AI 代理模型引擎负责算得快，TLaser 数字孪生层负责用真实数据校准。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三层协同，形成从物理内核到 AI 加速再到数字孪生校准的完整技术栈。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第一项核心能力：7D PINN 代理模型取代慢速数值网格积分。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输入 7 维设计向量，输出 105 维性能指标与空间剖面，无需重建网格即可在毫秒级做出预测。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求解延迟从数秒级下降到 5 毫秒以内，与原高精度数值模拟相比 R² 保持在 0.997 以上。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第二项核心能力：反向参数标定。TLaser 作为逆向校准引擎，回答「给定一组实测 LIV 曲线，内部物理参数当前的真实值是多少」。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标定程序用 L-BFGS-B 极小化算法迭代更新 5 个关键物性参数，包括内损耗、限制因子、俄歇复合乘数、串联与并联电阻。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参数同步后的数字孪生体可在毫秒级评估老化极限、支持设计改进并做可靠性预测。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为什么传统仿真平台无法与真正的数字孪生系统竞争？四个维度对比：方向性、速度、准确率匹配与资产价值。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传统仿真是单向前向计算，静态未校准；TLaser 数字大脑实现双向对话、AI 代理毫秒级响应、动态校准 R² 超过 0.997。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最关键的是资产价值：传统仿真迭代结果可丢弃，而 TLaser 每次测试都在积累专有数据资产，精度随时间持续增长。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技术验证：PINN 代理模型已在独立的保留验证集上完成严苛验证。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光输出功率 R² 0.998、电光转换效率 0.997、终端电流 0.999，平均激射功率残差小于 0.45 毫瓦。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训练过程中数据损失与物理方程损失均收敛 6 个数量级，物理约束消除了非物理毛刺与振荡。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最后是合作号召：TLaser 愿身许中国光芯制造，寻找志同道合的产业伙伴。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我们诚邀 DFB/EML 光芯片企业、光模块企业、封装测试企业及科研机构加入，引入真实的设计、工艺与测试数据。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中国光芯片自主化，不仅需要制造设备、工艺产线与材料供应链，还需要同步建立自主的设计仿真与数字孪生能力。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欢迎访问 GitHub 仓库与官网了解更多，期待与各位携手。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1879600"/>
            <a:ext cx="1016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TLASER · DIGITAL TWIN FOR OPTICAL CHIPS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489200"/>
            <a:ext cx="1041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实时数字孪生与参数在线标定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013200"/>
            <a:ext cx="9906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P·Laser 与 T·Laser 重塑光芯片研发范式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28647" flipH="false" flipV="false">
            <a:off x="1016026" y="49720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08C2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54864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7D 物理信息神经网络（PINN）的通信级半导体激光器数字孪生系统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31800"/>
            <a:ext cx="1066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01 · MARKET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92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数据中心推动光模块爆发，高端光芯片仍待国产突破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619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58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1600 亿元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692400"/>
            <a:ext cx="558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DD8E8"/>
                </a:solidFill>
                <a:latin typeface="Noto Sans SC"/>
                <a:ea typeface="Noto Sans SC"/>
                <a:cs typeface="Noto Sans SC"/>
                <a:sym typeface="Noto Sans SC"/>
              </a:rPr>
              <a:t>2025 年全球光模块市场规模（约值），AI 数据中心推动需求高速增长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7813" flipH="false" flipV="false">
            <a:off x="762007" y="32702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3429000"/>
            <a:ext cx="558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800G / 1.6T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089400"/>
            <a:ext cx="558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DD8E8"/>
                </a:solidFill>
                <a:latin typeface="Noto Sans SC"/>
                <a:ea typeface="Noto Sans SC"/>
                <a:cs typeface="Noto Sans SC"/>
                <a:sym typeface="Noto Sans SC"/>
              </a:rPr>
              <a:t>AI 集群互联驱动光模块速率持续跃迁，高速光芯片需求倍增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7813" flipH="false" flipV="false">
            <a:off x="762007" y="46672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762000" y="4826000"/>
            <a:ext cx="558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25G+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486400"/>
            <a:ext cx="558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DD8E8"/>
                </a:solidFill>
                <a:latin typeface="Noto Sans SC"/>
                <a:ea typeface="Noto Sans SC"/>
                <a:cs typeface="Noto Sans SC"/>
                <a:sym typeface="Noto Sans SC"/>
              </a:rPr>
              <a:t>高速 DFB/EML 芯片壁垒线：美日企业主导高端市场，国产在 2.5G/10G/部分 25G 已突破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rcRect l="0" r="0" t="393" b="393"/>
          <a:stretch>
            <a:fillRect/>
          </a:stretch>
        </p:blipFill>
        <p:spPr>
          <a:xfrm rot="0" flipH="false" flipV="false">
            <a:off x="6731000" y="2006600"/>
            <a:ext cx="5080000" cy="2857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6731000" y="49784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AI 数据中心 · 800G/1.6T 高速光模块演进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63246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AA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来源：TLaser 官网（zhenwenwan.github.io/Pages/TLaser_CN.html）· 市场数据为第三方机构口径估算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318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02 · PAIN POINTS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863600"/>
            <a:ext cx="1092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光芯片是信息黑盒：仿真与实测之间隔着四道鸿沟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568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446" b="446"/>
          <a:stretch>
            <a:fillRect/>
          </a:stretch>
        </p:blipFill>
        <p:spPr>
          <a:xfrm rot="0" flipH="false" flipV="false">
            <a:off x="762000" y="2006600"/>
            <a:ext cx="5334000" cy="299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5130800"/>
            <a:ext cx="5334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完美的电脑模型 vs 残酷的实验室实测——偏差来自哪里，无人能直接回答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858000" y="20066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518400" y="19812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器件内部损耗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518400" y="2413000"/>
            <a:ext cx="419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内部光学损耗与材料吸收无法直接测量，理论模型必然偏离实测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9549" flipH="false" flipV="false">
            <a:off x="6858009" y="30162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858000" y="32258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518400" y="3200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工艺偏差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518400" y="3632200"/>
            <a:ext cx="419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同一批次、不同器件之间存在随机性能偏差，仿真难以逐一覆盖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549" flipH="false" flipV="false">
            <a:off x="6858009" y="42354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858000" y="4445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518400" y="4419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温度漂移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518400" y="4851400"/>
            <a:ext cx="419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运行环境与自热效应持续改变器件状态，静态模型无法跟随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549" flipH="false" flipV="false">
            <a:off x="6858009" y="5454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858000" y="56642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518400" y="56388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不可测量的物理参数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518400" y="6070600"/>
            <a:ext cx="419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不破坏封装就无法观测内部等效参数，正向仿真无法自我修正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63500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AA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来源：TLaser 官网 · 工程映射可视化（光模块—光引擎—激光器芯片五层解构）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318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03 · APPROACH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863600"/>
            <a:ext cx="1092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像现代天气预报一样演进：物理模型 + 数据同化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568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446" b="446"/>
          <a:stretch>
            <a:fillRect/>
          </a:stretch>
        </p:blipFill>
        <p:spPr>
          <a:xfrm rot="0" flipH="false" flipV="false">
            <a:off x="762000" y="2006600"/>
            <a:ext cx="5334000" cy="299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5130800"/>
            <a:ext cx="5334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天气预报演进：经验统计 → 数值模式 → 模式 + 实时观测资料同化；光芯片研发遵循同一规律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5918200"/>
            <a:ext cx="533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DD8E8"/>
                </a:solidFill>
                <a:latin typeface="Noto Sans SC"/>
                <a:ea typeface="Noto Sans SC"/>
                <a:cs typeface="Noto Sans SC"/>
                <a:sym typeface="Noto Sans SC"/>
              </a:rPr>
              <a:t>真正有效的路线：物理模型、制造数据与测试数据结合，形成可持续校准的数字孪生闭环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8594" flipH="false" flipV="false">
            <a:off x="6604008" y="20002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9" id="9"/>
          <p:cNvCxnSpPr/>
          <p:nvPr/>
        </p:nvCxnSpPr>
        <p:spPr>
          <a:xfrm rot="-285818" flipH="false" flipV="false">
            <a:off x="8077464" y="240665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6A8B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0" id="10"/>
          <p:cNvCxnSpPr/>
          <p:nvPr/>
        </p:nvCxnSpPr>
        <p:spPr>
          <a:xfrm rot="-285818" flipH="false" flipV="false">
            <a:off x="9703064" y="240665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6A8B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1" id="11"/>
          <p:cNvCxnSpPr/>
          <p:nvPr/>
        </p:nvCxnSpPr>
        <p:spPr>
          <a:xfrm rot="5371352" flipH="false" flipV="false">
            <a:off x="9829800" y="34226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6A8B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2" id="12"/>
          <p:cNvCxnSpPr/>
          <p:nvPr/>
        </p:nvCxnSpPr>
        <p:spPr>
          <a:xfrm rot="10514181" flipH="false" flipV="false">
            <a:off x="9702536" y="443865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6A8B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3" id="13"/>
          <p:cNvCxnSpPr/>
          <p:nvPr/>
        </p:nvCxnSpPr>
        <p:spPr>
          <a:xfrm rot="10514181" flipH="false" flipV="false">
            <a:off x="8076936" y="443865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6A8B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4" id="14"/>
          <p:cNvCxnSpPr/>
          <p:nvPr/>
        </p:nvCxnSpPr>
        <p:spPr>
          <a:xfrm rot="-5428647" flipH="false" flipV="false">
            <a:off x="6578600" y="3422624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6A8B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604000" y="2159000"/>
            <a:ext cx="1473200" cy="508000"/>
          </a:xfrm>
          <a:prstGeom prst="roundRect">
            <a:avLst>
              <a:gd name="adj" fmla="val 0"/>
            </a:avLst>
          </a:prstGeom>
          <a:solidFill>
            <a:srgbClr val="142848">
              <a:alpha val="100000"/>
            </a:srgbClr>
          </a:solidFill>
          <a:ln w="12700" cmpd="sng" cap="flat">
            <a:solidFill>
              <a:srgbClr val="468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29400" y="2260600"/>
            <a:ext cx="1422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29600" y="2159000"/>
            <a:ext cx="1473200" cy="508000"/>
          </a:xfrm>
          <a:prstGeom prst="roundRect">
            <a:avLst>
              <a:gd name="adj" fmla="val 0"/>
            </a:avLst>
          </a:prstGeom>
          <a:solidFill>
            <a:srgbClr val="142848">
              <a:alpha val="100000"/>
            </a:srgbClr>
          </a:solidFill>
          <a:ln w="12700" cmpd="sng" cap="flat">
            <a:solidFill>
              <a:srgbClr val="468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55000" y="2260600"/>
            <a:ext cx="1422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仿真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855200" y="2159000"/>
            <a:ext cx="1473200" cy="508000"/>
          </a:xfrm>
          <a:prstGeom prst="roundRect">
            <a:avLst>
              <a:gd name="adj" fmla="val 0"/>
            </a:avLst>
          </a:prstGeom>
          <a:solidFill>
            <a:srgbClr val="142848">
              <a:alpha val="100000"/>
            </a:srgbClr>
          </a:solidFill>
          <a:ln w="12700" cmpd="sng" cap="flat">
            <a:solidFill>
              <a:srgbClr val="468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880600" y="2260600"/>
            <a:ext cx="1422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制造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04000" y="4191000"/>
            <a:ext cx="1473200" cy="508000"/>
          </a:xfrm>
          <a:prstGeom prst="roundRect">
            <a:avLst>
              <a:gd name="adj" fmla="val 0"/>
            </a:avLst>
          </a:prstGeom>
          <a:solidFill>
            <a:srgbClr val="142848">
              <a:alpha val="100000"/>
            </a:srgbClr>
          </a:solidFill>
          <a:ln w="12700" cmpd="sng" cap="flat">
            <a:solidFill>
              <a:srgbClr val="468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29400" y="4292600"/>
            <a:ext cx="1422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再设计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29600" y="4191000"/>
            <a:ext cx="1473200" cy="508000"/>
          </a:xfrm>
          <a:prstGeom prst="roundRect">
            <a:avLst>
              <a:gd name="adj" fmla="val 0"/>
            </a:avLst>
          </a:prstGeom>
          <a:solidFill>
            <a:srgbClr val="142848">
              <a:alpha val="100000"/>
            </a:srgbClr>
          </a:solidFill>
          <a:ln w="12700" cmpd="sng" cap="flat">
            <a:solidFill>
              <a:srgbClr val="F08C2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255000" y="4292600"/>
            <a:ext cx="1422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反向标定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855200" y="4191000"/>
            <a:ext cx="1473200" cy="508000"/>
          </a:xfrm>
          <a:prstGeom prst="roundRect">
            <a:avLst>
              <a:gd name="adj" fmla="val 0"/>
            </a:avLst>
          </a:prstGeom>
          <a:solidFill>
            <a:srgbClr val="142848">
              <a:alpha val="100000"/>
            </a:srgbClr>
          </a:solidFill>
          <a:ln w="12700" cmpd="sng" cap="flat">
            <a:solidFill>
              <a:srgbClr val="468CC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880600" y="4292600"/>
            <a:ext cx="1422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604000" y="54610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闭环迭代：设计 → 仿真 → 制造 → 测试 → 反向标定 → 再设计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318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04 · PLATFORM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863600"/>
            <a:ext cx="1092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TLaser：为光芯片构建自进化数字大脑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568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308" b="308"/>
          <a:stretch>
            <a:fillRect/>
          </a:stretch>
        </p:blipFill>
        <p:spPr>
          <a:xfrm rot="0" flipH="false" flipV="false">
            <a:off x="762000" y="2006600"/>
            <a:ext cx="6604000" cy="37211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5816600"/>
            <a:ext cx="660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跨越数字设计与物理制造的鸿沟：三大能力整合为无缝生态系统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874000" y="1905000"/>
            <a:ext cx="381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483600" y="1905000"/>
            <a:ext cx="330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算得准 · 物理内核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83600" y="2387600"/>
            <a:ext cx="342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Lasers 高精度物理内核：光-电-热多物理场耦合，求解芯片内部真实物理机制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2277" flipH="false" flipV="false">
            <a:off x="7874011" y="3168650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7874000" y="3378200"/>
            <a:ext cx="381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483600" y="3378200"/>
            <a:ext cx="330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算得快 · AI 引擎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483600" y="3860800"/>
            <a:ext cx="342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PLaser AI 代理模型引擎：物理信息神经网络（PINN），毫秒级推理加速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2277" flipH="false" flipV="false">
            <a:off x="7874011" y="4641850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7874000" y="4851400"/>
            <a:ext cx="381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483600" y="4851400"/>
            <a:ext cx="330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数字校准 · 反馈环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483600" y="5334000"/>
            <a:ext cx="3429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TLaser 数字孪生平台：连接设计、仿真与真实实验室数据（L-I-V 曲线），校准真实芯片与数字模型的误差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318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05 · CAPABILITY I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863600"/>
            <a:ext cx="1092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7D PINN 代理模型：毫秒级正向预测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568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446" b="446"/>
          <a:stretch>
            <a:fillRect/>
          </a:stretch>
        </p:blipFill>
        <p:spPr>
          <a:xfrm rot="0" flipH="false" flipV="false">
            <a:off x="762000" y="2006600"/>
            <a:ext cx="5334000" cy="299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5130800"/>
            <a:ext cx="5334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7 维设计空间深度探索：腔长、注入电流、温度、反射率、有源区厚度等维度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04000" y="19050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INPUT · 7-D DESIGN VECTOR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604000" y="2336800"/>
            <a:ext cx="5207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DD8E8"/>
                </a:solidFill>
                <a:latin typeface="Noto Sans SC"/>
                <a:ea typeface="Noto Sans SC"/>
                <a:cs typeface="Noto Sans SC"/>
                <a:sym typeface="Noto Sans SC"/>
              </a:rPr>
              <a:t>输入 7 维设计向量：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400">
                    <a:solidFill>
                      <a:srgbClr val="CDD8E8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X=</m:t>
                </m:r>
                <m:d>
                  <m:dPr>
                    <m:begChr m:val="["/>
                    <m:sepChr m:val=","/>
                    <m:endChr m:val="]"/>
                  </m:dPr>
                  <m:e>
                    <m:sSub>
                      <m:e>
                        <m:r>
                          <a:rPr sz="1400">
                            <a:solidFill>
                              <a:srgbClr val="CDD8E8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R</m:t>
                        </m:r>
                      </m:e>
                      <m:sub>
                        <m:r>
                          <a:rPr sz="1400">
                            <a:solidFill>
                              <a:srgbClr val="CDD8E8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1</m:t>
                        </m:r>
                      </m:sub>
                    </m:sSub>
                  </m:e>
                  <m:e>
                    <m:sSub>
                      <m:e>
                        <m:r>
                          <a:rPr sz="1400">
                            <a:solidFill>
                              <a:srgbClr val="CDD8E8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R</m:t>
                        </m:r>
                      </m:e>
                      <m:sub>
                        <m:r>
                          <a:rPr sz="1400">
                            <a:solidFill>
                              <a:srgbClr val="CDD8E8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2</m:t>
                        </m:r>
                      </m:sub>
                    </m:sSub>
                  </m:e>
                  <m:e>
                    <m:r>
                      <a:rPr sz="1400">
                        <a:solidFill>
                          <a:srgbClr val="CDD8E8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L</m:t>
                    </m:r>
                  </m:e>
                  <m:e>
                    <m:sSub>
                      <m:e>
                        <m:r>
                          <a:rPr sz="1400">
                            <a:solidFill>
                              <a:srgbClr val="CDD8E8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T</m:t>
                        </m:r>
                      </m:e>
                      <m:sub>
                        <m:r>
                          <a:rPr sz="1400">
                            <a:solidFill>
                              <a:srgbClr val="CDD8E8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0</m:t>
                        </m:r>
                      </m:sub>
                    </m:sSub>
                  </m:e>
                  <m:e>
                    <m:sSub>
                      <m:e>
                        <m:r>
                          <a:rPr sz="1400">
                            <a:solidFill>
                              <a:srgbClr val="CDD8E8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I</m:t>
                        </m:r>
                      </m:e>
                      <m:sub>
                        <m:r>
                          <m:rPr>
                            <m:nor/>
                          </m:rPr>
                          <a:rPr sz="1400">
                            <a:solidFill>
                              <a:srgbClr val="CDD8E8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active</m:t>
                        </m:r>
                      </m:sub>
                    </m:sSub>
                  </m:e>
                  <m:e>
                    <m:sSub>
                      <m:e>
                        <m:r>
                          <a:rPr sz="1400">
                            <a:solidFill>
                              <a:srgbClr val="CDD8E8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w</m:t>
                        </m:r>
                      </m:e>
                      <m:sub>
                        <m:r>
                          <m:rPr>
                            <m:nor/>
                          </m:rPr>
                          <a:rPr sz="1400">
                            <a:solidFill>
                              <a:srgbClr val="CDD8E8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active</m:t>
                        </m:r>
                      </m:sub>
                    </m:sSub>
                  </m:e>
                  <m:e>
                    <m:sSub>
                      <m:e>
                        <m:r>
                          <a:rPr sz="1400">
                            <a:solidFill>
                              <a:srgbClr val="CDD8E8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sz="1400">
                            <a:solidFill>
                              <a:srgbClr val="CDD8E8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m:t>active</m:t>
                        </m:r>
                      </m:sub>
                    </m:sSub>
                  </m:e>
                </m:d>
              </m:oMath>
            </a14:m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3200400"/>
            <a:ext cx="520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OUTPUT · 105-D METRICS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3632200"/>
            <a:ext cx="5207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DD8E8"/>
                </a:solidFill>
                <a:latin typeface="Noto Sans SC"/>
                <a:ea typeface="Noto Sans SC"/>
                <a:cs typeface="Noto Sans SC"/>
                <a:sym typeface="Noto Sans SC"/>
              </a:rPr>
              <a:t>输出 105 维：光功率、电光转换效率 WPE、总电流，以及 51 点纵向载流子 N(z) 与光功率 P(z) 剖面</a:t>
            </a:r>
            <a:endParaRPr lang="en-US" sz="1100"/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6604000" y="4572000"/>
          <a:ext cx="5080000" cy="165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1524000"/>
                <a:gridCol w="1270000"/>
              </a:tblGrid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求解器模式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6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单步耗时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6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R² 精度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64">
                        <a:alpha val="100000"/>
                      </a:srgbClr>
                    </a:solidFill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CDD8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Elmer 2D FEM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CDD8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12–25 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CDD8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1.000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CDD8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Quasi-3D 打靶法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CDD8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1.2–2.8 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CDD8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1.000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08C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TLaser PINN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08C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&lt; 5 ms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08C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&gt; 0.997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318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06 · CAPABILITY II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863600"/>
            <a:ext cx="1092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反向参数标定：从性能反推参数，毫秒级隔离微观缺陷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568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95" b="95"/>
          <a:stretch>
            <a:fillRect/>
          </a:stretch>
        </p:blipFill>
        <p:spPr>
          <a:xfrm rot="0" flipH="false" flipV="false">
            <a:off x="762000" y="2006600"/>
            <a:ext cx="5334000" cy="39751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60706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数字孪生逆校准回路：实测 LIV → 参数求解 → 物理模拟 → 优化拟合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04000" y="1905000"/>
            <a:ext cx="508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08C28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性能到参数，而非参数到性能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604000" y="2489200"/>
            <a:ext cx="520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读取真实光模块的 L-I-V 遥测数据，经数值优化反向识别芯片内部难以直接测量的材料、工艺与等效参数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9046" flipH="false" flipV="false">
            <a:off x="6604008" y="32702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604000" y="34544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239000" y="3454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L-BFGS-B 在线拟合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239000" y="3835400"/>
            <a:ext cx="431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毫秒级反向标定器件真实物理属性，适配老化与工艺漂移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43942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239000" y="43942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五参数同时校准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239000" y="4775200"/>
            <a:ext cx="4318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内损耗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200">
                        <a:solidFill>
                          <a:srgbClr val="B9C8DA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α</m:t>
                    </m:r>
                  </m:e>
                  <m:sub>
                    <m:r>
                      <a:rPr sz="1200">
                        <a:solidFill>
                          <a:srgbClr val="B9C8DA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i</m:t>
                    </m:r>
                  </m:sub>
                </m:sSub>
              </m:oMath>
            </a14:m>
            <a:r>
              <a:rPr lang="en-US" b="false" i="false" strike="noStrike" u="none" sz="12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、限制因子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200">
                    <a:solidFill>
                      <a:srgbClr val="B9C8D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Γ</m:t>
                </m:r>
              </m:oMath>
            </a14:m>
            <a:r>
              <a:rPr lang="en-US" b="false" i="false" strike="noStrike" u="none" sz="12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、俄歇复合乘数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a:rPr sz="1200">
                    <a:solidFill>
                      <a:srgbClr val="B9C8D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C</m:t>
                </m:r>
              </m:oMath>
            </a14:m>
            <a:r>
              <a:rPr lang="en-US" b="false" i="false" strike="noStrike" u="none" sz="12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、串联电阻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200">
                        <a:solidFill>
                          <a:srgbClr val="B9C8DA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R</m:t>
                    </m:r>
                  </m:e>
                  <m:sub>
                    <m:r>
                      <a:rPr sz="1200">
                        <a:solidFill>
                          <a:srgbClr val="B9C8DA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s</m:t>
                    </m:r>
                  </m:sub>
                </m:sSub>
              </m:oMath>
            </a14:m>
            <a:r>
              <a:rPr lang="en-US" b="false" i="false" strike="noStrike" u="none" sz="12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、并联漏电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200">
                        <a:solidFill>
                          <a:srgbClr val="B9C8DA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R</m:t>
                    </m:r>
                  </m:e>
                  <m:sub>
                    <m:r>
                      <a:rPr sz="1200">
                        <a:solidFill>
                          <a:srgbClr val="B9C8DA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sh</m:t>
                    </m:r>
                  </m:sub>
                </m:sSub>
              </m:oMath>
            </a14:m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5461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239000" y="5461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工程决策闭环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239000" y="5842000"/>
            <a:ext cx="4318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老化极限评估 · 设计改进支持 · 可靠性预测，同步后的孪生体毫秒级可用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318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07 · COMPARISON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863600"/>
            <a:ext cx="1092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诊断矩阵：前向计算 vs 闭环智能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568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446" b="446"/>
          <a:stretch>
            <a:fillRect/>
          </a:stretch>
        </p:blipFill>
        <p:spPr>
          <a:xfrm rot="0" flipH="false" flipV="false">
            <a:off x="762000" y="1905000"/>
            <a:ext cx="5334000" cy="299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50292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为什么传统仿真平台无法与真正的数字孪生系统竞争：四个维度的系统性差距</a:t>
            </a:r>
            <a:endParaRPr lang="en-US" sz="1100"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604000" y="1905000"/>
          <a:ext cx="5080000" cy="2844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1841500"/>
                <a:gridCol w="2222500"/>
              </a:tblGrid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6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传统仿真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6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TLaser 数字大脑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8C28">
                        <a:alpha val="100000"/>
                      </a:srgbClr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方向性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B9C8D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单向前向计算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08C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双向持续对话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速度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B9C8D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慢、重、计算量大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08C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 代理毫秒级响应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准确率匹配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B9C8D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静态、未校准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08C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动态校准 R² &gt; 0.997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资产价值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B9C8D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可丢弃迭代，学习过程丢失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08C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持续积累专有数据资产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6604000" y="50292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DD8E8"/>
                </a:solidFill>
                <a:latin typeface="Noto Sans SC"/>
                <a:ea typeface="Noto Sans SC"/>
                <a:cs typeface="Noto Sans SC"/>
                <a:sym typeface="Noto Sans SC"/>
              </a:rPr>
              <a:t>每一次测试都在训练孪生体：精度随数据持续增长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318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08 · VALIDATION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863600"/>
            <a:ext cx="1092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严苛验证：R² &gt; 0.997 的物理保真代理模型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568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2006600"/>
            <a:ext cx="279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0.998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683000" y="2133600"/>
            <a:ext cx="254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光输出功率 R²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83000" y="25400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独立保留验证集上对齐参考求解器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7813" flipH="false" flipV="false">
            <a:off x="762007" y="31178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762000" y="3302000"/>
            <a:ext cx="279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0.997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83000" y="3429000"/>
            <a:ext cx="254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电光转换效率 WPE R²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83000" y="38354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未见过腔长、膜系与温度下依然稳定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7813" flipH="false" flipV="false">
            <a:off x="762007" y="44132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762000" y="4597400"/>
            <a:ext cx="279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0.999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83000" y="4724400"/>
            <a:ext cx="254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终端电流 R²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683000" y="51308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电路级电压电流特性高精度复现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7813" flipH="false" flipV="false">
            <a:off x="762007" y="5708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762000" y="5867400"/>
            <a:ext cx="279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&lt; 0.45 mW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683000" y="5969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平均激射功率残差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2"/>
          <a:srcRect l="105" r="105" t="0" b="0"/>
          <a:stretch>
            <a:fillRect/>
          </a:stretch>
        </p:blipFill>
        <p:spPr>
          <a:xfrm rot="0" flipH="false" flipV="false">
            <a:off x="6858000" y="1905000"/>
            <a:ext cx="4826000" cy="3022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0" id="20"/>
          <p:cNvSpPr/>
          <p:nvPr/>
        </p:nvSpPr>
        <p:spPr>
          <a:xfrm rot="0" flipH="false" flipV="false">
            <a:off x="6858000" y="50292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PINN 训练损失：数据损失与物理方程损失收敛 6 个数量级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858000" y="5537200"/>
            <a:ext cx="4826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DD8E8"/>
                </a:solidFill>
                <a:latin typeface="Noto Sans SC"/>
                <a:ea typeface="Noto Sans SC"/>
                <a:cs typeface="Noto Sans SC"/>
                <a:sym typeface="Noto Sans SC"/>
              </a:rPr>
              <a:t>物理微分控制方程嵌入损失反向传播，消除网格点非物理毛刺，提供完全连续平滑的物理剖面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0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09 · CALL TO ACTION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共建中国自主的光芯数字孪生技术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28647" flipH="false" flipV="false">
            <a:off x="762026" y="27368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08C2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30988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08C28"/>
                </a:solidFill>
                <a:latin typeface="Noto Sans SC"/>
                <a:ea typeface="Noto Sans SC"/>
                <a:cs typeface="Noto Sans SC"/>
                <a:sym typeface="Noto Sans SC"/>
              </a:rPr>
              <a:t>TLaser 愿身许中国光芯制造，寻找志同道合的产业伙伴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0132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携手 DFB/EML 光芯片企业 · 光模块企业 · 封装测试企业 · 科研机构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724400"/>
            <a:ext cx="1041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软件框架与核心算法已经建立。下一阶段，引入真实的设计、工艺与测试数据，完成模型标定、工程验证与行业应用，让数字孪生走进产线。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092" flipH="false" flipV="false">
            <a:off x="762004" y="573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762000" y="5969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6A8BE"/>
                </a:solidFill>
                <a:latin typeface="Inter"/>
                <a:ea typeface="Inter"/>
                <a:cs typeface="Inter"/>
                <a:sym typeface="Inter"/>
              </a:rPr>
              <a:t>github.com/ZhenwenWan/TLaser · zhenwenwan.github.io/Pages/TLaser_CN.html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